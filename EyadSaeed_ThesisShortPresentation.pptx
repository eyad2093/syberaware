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Fredoka SemiBold" panose="020B0604020202020204" charset="-79"/>
      <p:regular r:id="rId10"/>
    </p:embeddedFont>
    <p:embeddedFont>
      <p:font typeface="Noto Sans" panose="020B0502040504020204" pitchFamily="34" charset="0"/>
      <p:regular r:id="rId11"/>
      <p:bold r:id="rId12"/>
      <p:italic r:id="rId13"/>
      <p:boldItalic r:id="rId14"/>
    </p:embeddedFont>
    <p:embeddedFont>
      <p:font typeface="Noto Sans Bold" panose="020B0802040504020204" pitchFamily="34" charset="0"/>
      <p:regular r:id="rId15"/>
      <p:bold r:id="rId16"/>
    </p:embeddedFont>
    <p:embeddedFont>
      <p:font typeface="Pixelify Sans Medium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92" dt="2026-09-26T15:12:42.522"/>
    <p1510:client id="{349D2A46-FF53-19E0-1863-354C8AA98EEA}" v="7" dt="2026-09-26T15:29:03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d Ahmed Saeed" userId="S::eyad.saeed@student.giu-uni.de::2dfdf4b3-ca1a-4372-943c-a688d57f7fd3" providerId="AD" clId="Web-{349D2A46-FF53-19E0-1863-354C8AA98EEA}"/>
    <pc:docChg chg="modSld">
      <pc:chgData name="Eyad Ahmed Saeed" userId="S::eyad.saeed@student.giu-uni.de::2dfdf4b3-ca1a-4372-943c-a688d57f7fd3" providerId="AD" clId="Web-{349D2A46-FF53-19E0-1863-354C8AA98EEA}" dt="2026-09-26T15:29:03.043" v="6"/>
      <pc:docMkLst>
        <pc:docMk/>
      </pc:docMkLst>
      <pc:sldChg chg="addSp delSp modSp">
        <pc:chgData name="Eyad Ahmed Saeed" userId="S::eyad.saeed@student.giu-uni.de::2dfdf4b3-ca1a-4372-943c-a688d57f7fd3" providerId="AD" clId="Web-{349D2A46-FF53-19E0-1863-354C8AA98EEA}" dt="2026-09-26T15:29:03.043" v="6"/>
        <pc:sldMkLst>
          <pc:docMk/>
          <pc:sldMk cId="0" sldId="260"/>
        </pc:sldMkLst>
        <pc:spChg chg="add del mod">
          <ac:chgData name="Eyad Ahmed Saeed" userId="S::eyad.saeed@student.giu-uni.de::2dfdf4b3-ca1a-4372-943c-a688d57f7fd3" providerId="AD" clId="Web-{349D2A46-FF53-19E0-1863-354C8AA98EEA}" dt="2026-09-26T15:29:03.043" v="6"/>
          <ac:spMkLst>
            <pc:docMk/>
            <pc:sldMk cId="0" sldId="260"/>
            <ac:spMk id="17" creationId="{B6649DFB-73C9-B3BA-93ED-60BB431CAA6E}"/>
          </ac:spMkLst>
        </pc:spChg>
      </pc:sldChg>
    </pc:docChg>
  </pc:docChgLst>
  <pc:docChgLst>
    <pc:chgData name="Eyad Ahmed Saeed" userId="S::eyad.saeed@student.giu-uni.de::2dfdf4b3-ca1a-4372-943c-a688d57f7fd3" providerId="AD" clId="Web-{00000000-0000-0000-0000-000000000000}"/>
    <pc:docChg chg="modSld sldOrd">
      <pc:chgData name="Eyad Ahmed Saeed" userId="S::eyad.saeed@student.giu-uni.de::2dfdf4b3-ca1a-4372-943c-a688d57f7fd3" providerId="AD" clId="Web-{00000000-0000-0000-0000-000000000000}" dt="2026-09-26T15:12:42.522" v="286"/>
      <pc:docMkLst>
        <pc:docMk/>
      </pc:docMkLst>
      <pc:sldChg chg="addSp modSp">
        <pc:chgData name="Eyad Ahmed Saeed" userId="S::eyad.saeed@student.giu-uni.de::2dfdf4b3-ca1a-4372-943c-a688d57f7fd3" providerId="AD" clId="Web-{00000000-0000-0000-0000-000000000000}" dt="2026-09-26T15:09:31.435" v="283" actId="1076"/>
        <pc:sldMkLst>
          <pc:docMk/>
          <pc:sldMk cId="0" sldId="256"/>
        </pc:sldMkLst>
        <pc:spChg chg="add mod">
          <ac:chgData name="Eyad Ahmed Saeed" userId="S::eyad.saeed@student.giu-uni.de::2dfdf4b3-ca1a-4372-943c-a688d57f7fd3" providerId="AD" clId="Web-{00000000-0000-0000-0000-000000000000}" dt="2026-09-26T15:09:31.435" v="283" actId="1076"/>
          <ac:spMkLst>
            <pc:docMk/>
            <pc:sldMk cId="0" sldId="256"/>
            <ac:spMk id="10" creationId="{8E812FB7-5C48-FA83-215F-AF8D3077C197}"/>
          </ac:spMkLst>
        </pc:spChg>
      </pc:sldChg>
      <pc:sldChg chg="addSp delSp modSp">
        <pc:chgData name="Eyad Ahmed Saeed" userId="S::eyad.saeed@student.giu-uni.de::2dfdf4b3-ca1a-4372-943c-a688d57f7fd3" providerId="AD" clId="Web-{00000000-0000-0000-0000-000000000000}" dt="2026-09-26T14:51:31.842" v="35" actId="20577"/>
        <pc:sldMkLst>
          <pc:docMk/>
          <pc:sldMk cId="0" sldId="257"/>
        </pc:sldMkLst>
        <pc:spChg chg="add del mod">
          <ac:chgData name="Eyad Ahmed Saeed" userId="S::eyad.saeed@student.giu-uni.de::2dfdf4b3-ca1a-4372-943c-a688d57f7fd3" providerId="AD" clId="Web-{00000000-0000-0000-0000-000000000000}" dt="2026-09-26T14:51:14.762" v="33"/>
          <ac:spMkLst>
            <pc:docMk/>
            <pc:sldMk cId="0" sldId="257"/>
            <ac:spMk id="2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1:04.746" v="31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1:23.685" v="34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1:31.842" v="35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54.648" v="23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58.867" v="24" actId="1076"/>
          <ac:spMkLst>
            <pc:docMk/>
            <pc:sldMk cId="0" sldId="257"/>
            <ac:spMk id="14" creationId="{00000000-0000-0000-0000-000000000000}"/>
          </ac:spMkLst>
        </pc:spChg>
      </pc:sldChg>
      <pc:sldChg chg="addSp modSp">
        <pc:chgData name="Eyad Ahmed Saeed" userId="S::eyad.saeed@student.giu-uni.de::2dfdf4b3-ca1a-4372-943c-a688d57f7fd3" providerId="AD" clId="Web-{00000000-0000-0000-0000-000000000000}" dt="2026-09-26T15:04:04.397" v="263" actId="14100"/>
        <pc:sldMkLst>
          <pc:docMk/>
          <pc:sldMk cId="0" sldId="258"/>
        </pc:sldMkLst>
        <pc:spChg chg="mod">
          <ac:chgData name="Eyad Ahmed Saeed" userId="S::eyad.saeed@student.giu-uni.de::2dfdf4b3-ca1a-4372-943c-a688d57f7fd3" providerId="AD" clId="Web-{00000000-0000-0000-0000-000000000000}" dt="2026-09-26T15:03:20.426" v="233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25.599" v="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25.646" v="8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25.693" v="10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25.739" v="12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9:36.718" v="129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5:04:04.397" v="263" actId="1410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25.818" v="16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25.849" v="17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25.880" v="18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25.896" v="19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25.911" v="20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49:25.927" v="21" actId="1076"/>
          <ac:spMkLst>
            <pc:docMk/>
            <pc:sldMk cId="0" sldId="258"/>
            <ac:spMk id="21" creationId="{00000000-0000-0000-0000-000000000000}"/>
          </ac:spMkLst>
        </pc:spChg>
        <pc:spChg chg="add mod">
          <ac:chgData name="Eyad Ahmed Saeed" userId="S::eyad.saeed@student.giu-uni.de::2dfdf4b3-ca1a-4372-943c-a688d57f7fd3" providerId="AD" clId="Web-{00000000-0000-0000-0000-000000000000}" dt="2026-09-26T14:58:08.962" v="96" actId="1076"/>
          <ac:spMkLst>
            <pc:docMk/>
            <pc:sldMk cId="0" sldId="258"/>
            <ac:spMk id="23" creationId="{D3BBE5FA-19C7-E883-3BD2-6DECC8EAF1A7}"/>
          </ac:spMkLst>
        </pc:spChg>
        <pc:spChg chg="add mod">
          <ac:chgData name="Eyad Ahmed Saeed" userId="S::eyad.saeed@student.giu-uni.de::2dfdf4b3-ca1a-4372-943c-a688d57f7fd3" providerId="AD" clId="Web-{00000000-0000-0000-0000-000000000000}" dt="2026-09-26T15:03:55.756" v="261" actId="20577"/>
          <ac:spMkLst>
            <pc:docMk/>
            <pc:sldMk cId="0" sldId="258"/>
            <ac:spMk id="24" creationId="{94D785AA-CD9A-9A58-CC42-D56C00CE01AB}"/>
          </ac:spMkLst>
        </pc:spChg>
        <pc:picChg chg="mod">
          <ac:chgData name="Eyad Ahmed Saeed" userId="S::eyad.saeed@student.giu-uni.de::2dfdf4b3-ca1a-4372-943c-a688d57f7fd3" providerId="AD" clId="Web-{00000000-0000-0000-0000-000000000000}" dt="2026-09-26T14:49:25.583" v="5" actId="1076"/>
          <ac:picMkLst>
            <pc:docMk/>
            <pc:sldMk cId="0" sldId="258"/>
            <ac:picMk id="5" creationId="{00000000-0000-0000-0000-000000000000}"/>
          </ac:picMkLst>
        </pc:picChg>
        <pc:picChg chg="mod">
          <ac:chgData name="Eyad Ahmed Saeed" userId="S::eyad.saeed@student.giu-uni.de::2dfdf4b3-ca1a-4372-943c-a688d57f7fd3" providerId="AD" clId="Web-{00000000-0000-0000-0000-000000000000}" dt="2026-09-26T14:49:25.630" v="7" actId="1076"/>
          <ac:picMkLst>
            <pc:docMk/>
            <pc:sldMk cId="0" sldId="258"/>
            <ac:picMk id="7" creationId="{00000000-0000-0000-0000-000000000000}"/>
          </ac:picMkLst>
        </pc:picChg>
        <pc:picChg chg="mod">
          <ac:chgData name="Eyad Ahmed Saeed" userId="S::eyad.saeed@student.giu-uni.de::2dfdf4b3-ca1a-4372-943c-a688d57f7fd3" providerId="AD" clId="Web-{00000000-0000-0000-0000-000000000000}" dt="2026-09-26T14:49:25.661" v="9" actId="1076"/>
          <ac:picMkLst>
            <pc:docMk/>
            <pc:sldMk cId="0" sldId="258"/>
            <ac:picMk id="9" creationId="{00000000-0000-0000-0000-000000000000}"/>
          </ac:picMkLst>
        </pc:picChg>
        <pc:picChg chg="mod">
          <ac:chgData name="Eyad Ahmed Saeed" userId="S::eyad.saeed@student.giu-uni.de::2dfdf4b3-ca1a-4372-943c-a688d57f7fd3" providerId="AD" clId="Web-{00000000-0000-0000-0000-000000000000}" dt="2026-09-26T14:49:25.708" v="11" actId="1076"/>
          <ac:picMkLst>
            <pc:docMk/>
            <pc:sldMk cId="0" sldId="258"/>
            <ac:picMk id="11" creationId="{00000000-0000-0000-0000-000000000000}"/>
          </ac:picMkLst>
        </pc:picChg>
        <pc:picChg chg="mod">
          <ac:chgData name="Eyad Ahmed Saeed" userId="S::eyad.saeed@student.giu-uni.de::2dfdf4b3-ca1a-4372-943c-a688d57f7fd3" providerId="AD" clId="Web-{00000000-0000-0000-0000-000000000000}" dt="2026-09-26T14:49:25.755" v="13" actId="1076"/>
          <ac:picMkLst>
            <pc:docMk/>
            <pc:sldMk cId="0" sldId="258"/>
            <ac:picMk id="13" creationId="{00000000-0000-0000-0000-000000000000}"/>
          </ac:picMkLst>
        </pc:picChg>
        <pc:picChg chg="add mod">
          <ac:chgData name="Eyad Ahmed Saeed" userId="S::eyad.saeed@student.giu-uni.de::2dfdf4b3-ca1a-4372-943c-a688d57f7fd3" providerId="AD" clId="Web-{00000000-0000-0000-0000-000000000000}" dt="2026-09-26T14:57:49.508" v="94" actId="1076"/>
          <ac:picMkLst>
            <pc:docMk/>
            <pc:sldMk cId="0" sldId="258"/>
            <ac:picMk id="22" creationId="{7224E02E-4B3A-D912-F6CD-279586B9E3C0}"/>
          </ac:picMkLst>
        </pc:picChg>
      </pc:sldChg>
      <pc:sldChg chg="ord">
        <pc:chgData name="Eyad Ahmed Saeed" userId="S::eyad.saeed@student.giu-uni.de::2dfdf4b3-ca1a-4372-943c-a688d57f7fd3" providerId="AD" clId="Web-{00000000-0000-0000-0000-000000000000}" dt="2026-09-26T15:12:42.522" v="286"/>
        <pc:sldMkLst>
          <pc:docMk/>
          <pc:sldMk cId="0" sldId="259"/>
        </pc:sldMkLst>
      </pc:sldChg>
      <pc:sldChg chg="modSp">
        <pc:chgData name="Eyad Ahmed Saeed" userId="S::eyad.saeed@student.giu-uni.de::2dfdf4b3-ca1a-4372-943c-a688d57f7fd3" providerId="AD" clId="Web-{00000000-0000-0000-0000-000000000000}" dt="2026-09-26T14:55:36.139" v="80" actId="14100"/>
        <pc:sldMkLst>
          <pc:docMk/>
          <pc:sldMk cId="0" sldId="261"/>
        </pc:sldMkLst>
        <pc:spChg chg="mod">
          <ac:chgData name="Eyad Ahmed Saeed" userId="S::eyad.saeed@student.giu-uni.de::2dfdf4b3-ca1a-4372-943c-a688d57f7fd3" providerId="AD" clId="Web-{00000000-0000-0000-0000-000000000000}" dt="2026-09-26T14:55:36.139" v="80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5:08.872" v="70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5:08.888" v="71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5:08.903" v="72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5:25.889" v="78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5:16.247" v="74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5:16.247" v="75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5:16.279" v="76" actId="1076"/>
          <ac:spMkLst>
            <pc:docMk/>
            <pc:sldMk cId="0" sldId="261"/>
            <ac:spMk id="11" creationId="{00000000-0000-0000-0000-000000000000}"/>
          </ac:spMkLst>
        </pc:spChg>
      </pc:sldChg>
      <pc:sldChg chg="addSp delSp modSp">
        <pc:chgData name="Eyad Ahmed Saeed" userId="S::eyad.saeed@student.giu-uni.de::2dfdf4b3-ca1a-4372-943c-a688d57f7fd3" providerId="AD" clId="Web-{00000000-0000-0000-0000-000000000000}" dt="2026-09-26T14:54:46.011" v="68" actId="14100"/>
        <pc:sldMkLst>
          <pc:docMk/>
          <pc:sldMk cId="0" sldId="262"/>
        </pc:sldMkLst>
        <pc:spChg chg="add del mod">
          <ac:chgData name="Eyad Ahmed Saeed" userId="S::eyad.saeed@student.giu-uni.de::2dfdf4b3-ca1a-4372-943c-a688d57f7fd3" providerId="AD" clId="Web-{00000000-0000-0000-0000-000000000000}" dt="2026-09-26T14:53:25.677" v="55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3:19.505" v="52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3:39.866" v="56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3:39.882" v="57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3:39.897" v="58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3:45.944" v="59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3:45.976" v="60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3:45.991" v="61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4:46.011" v="68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Eyad Ahmed Saeed" userId="S::eyad.saeed@student.giu-uni.de::2dfdf4b3-ca1a-4372-943c-a688d57f7fd3" providerId="AD" clId="Web-{00000000-0000-0000-0000-000000000000}" dt="2026-09-26T14:54:21.509" v="66" actId="14100"/>
          <ac:spMkLst>
            <pc:docMk/>
            <pc:sldMk cId="0" sldId="262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88D47-59BF-4060-BB68-30A03F20769E}" type="datetimeFigureOut"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CADD9-DFA0-4F71-9E5A-6900695D2C1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3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F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4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33400"/>
            <a:ext cx="1137891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26" dirty="0">
                <a:solidFill>
                  <a:srgbClr val="F5C318"/>
                </a:solidFill>
                <a:latin typeface="Pixelify Sans Medium" pitchFamily="34" charset="0"/>
                <a:ea typeface="Pixelify Sans Medium" pitchFamily="34" charset="-122"/>
                <a:cs typeface="Pixelify Sans Medium" pitchFamily="34" charset="-120"/>
              </a:rPr>
              <a:t>CYBER EDUCATION / THESIS PRESENTATION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11182" y="841077"/>
            <a:ext cx="2062409" cy="5610820"/>
          </a:xfrm>
          <a:prstGeom prst="rect">
            <a:avLst/>
          </a:prstGeom>
          <a:solidFill>
            <a:srgbClr val="F5C31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841077"/>
            <a:ext cx="2062409" cy="5610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30680" y="1069677"/>
            <a:ext cx="8249733" cy="345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800" kern="0" spc="-68" dirty="0">
                <a:solidFill>
                  <a:srgbClr val="FFFFFF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GAMIFIED CYBER EDUCATION :</a:t>
            </a:r>
            <a:endParaRPr lang="en-US" sz="6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800" kern="0" spc="-68" dirty="0">
                <a:solidFill>
                  <a:srgbClr val="F5C318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Measuring Behavior Change</a:t>
            </a:r>
            <a:endParaRPr lang="en-US" sz="6800" dirty="0"/>
          </a:p>
        </p:txBody>
      </p:sp>
      <p:sp>
        <p:nvSpPr>
          <p:cNvPr id="6" name="Shape 3"/>
          <p:cNvSpPr/>
          <p:nvPr/>
        </p:nvSpPr>
        <p:spPr>
          <a:xfrm>
            <a:off x="3230680" y="4792365"/>
            <a:ext cx="2722395" cy="69751"/>
          </a:xfrm>
          <a:prstGeom prst="roundRect">
            <a:avLst>
              <a:gd name="adj" fmla="val 49999"/>
            </a:avLst>
          </a:prstGeom>
          <a:solidFill>
            <a:srgbClr val="F5C318"/>
          </a:solidFill>
          <a:ln/>
        </p:spPr>
      </p:sp>
      <p:sp>
        <p:nvSpPr>
          <p:cNvPr id="7" name="Text 4"/>
          <p:cNvSpPr/>
          <p:nvPr/>
        </p:nvSpPr>
        <p:spPr>
          <a:xfrm>
            <a:off x="3230680" y="5041602"/>
            <a:ext cx="824973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Bachelor Thesis · Topic Understanding &amp; Literature Review · 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230680" y="5524202"/>
            <a:ext cx="824973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Eyad Saeed: 13005578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230680" y="5953423"/>
            <a:ext cx="8249733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34" dirty="0">
                <a:solidFill>
                  <a:srgbClr val="F5C318"/>
                </a:solidFill>
                <a:latin typeface="Pixelify Sans Medium" pitchFamily="34" charset="0"/>
                <a:ea typeface="Pixelify Sans Medium" pitchFamily="34" charset="-122"/>
                <a:cs typeface="Pixelify Sans Medium" pitchFamily="34" charset="-120"/>
              </a:rPr>
              <a:t>SUPERVISOR: Dr. Maggie Mashaly</a:t>
            </a: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12FB7-5C48-FA83-215F-AF8D3077C197}"/>
              </a:ext>
            </a:extLst>
          </p:cNvPr>
          <p:cNvSpPr/>
          <p:nvPr/>
        </p:nvSpPr>
        <p:spPr>
          <a:xfrm>
            <a:off x="-2567" y="6574119"/>
            <a:ext cx="12177459" cy="2796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189" y="3556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26" dirty="0">
                <a:solidFill>
                  <a:schemeClr val="accent4"/>
                </a:solidFill>
                <a:latin typeface="Pixelify Sans Medium"/>
                <a:ea typeface="Pixelify Sans Medium" pitchFamily="34" charset="-122"/>
                <a:cs typeface="Pixelify Sans Medium" pitchFamily="34" charset="-120"/>
              </a:rPr>
              <a:t>THE CORE PROBLEM</a:t>
            </a:r>
            <a:endParaRPr lang="en-US" sz="1300">
              <a:solidFill>
                <a:schemeClr val="accent4"/>
              </a:solidFill>
              <a:latin typeface="Pixelify Sans Medium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189" y="647700"/>
            <a:ext cx="11277318" cy="1219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0" spc="-22" dirty="0">
                <a:solidFill>
                  <a:schemeClr val="accent4"/>
                </a:solidFill>
                <a:latin typeface="Noto Color Emoji"/>
                <a:ea typeface="Noto Color Emoji" pitchFamily="34" charset="-122"/>
                <a:cs typeface="Noto Color Emoji" pitchFamily="34" charset="-120"/>
              </a:rPr>
              <a:t>⚠</a:t>
            </a:r>
            <a:r>
              <a:rPr lang="en-US" sz="4400" kern="0" spc="-22" dirty="0">
                <a:solidFill>
                  <a:schemeClr val="accent4"/>
                </a:solidFill>
                <a:latin typeface="Fredoka SemiBold"/>
                <a:ea typeface="Fredoka SemiBold" pitchFamily="34" charset="-122"/>
                <a:cs typeface="Fredoka SemiBold"/>
              </a:rPr>
              <a:t> </a:t>
            </a:r>
            <a:r>
              <a:rPr lang="en-US" sz="4400" kern="0" spc="-22" dirty="0">
                <a:solidFill>
                  <a:schemeClr val="bg1"/>
                </a:solidFill>
                <a:latin typeface="Fredoka SemiBold"/>
                <a:ea typeface="Fredoka SemiBold" pitchFamily="34" charset="-122"/>
                <a:cs typeface="Fredoka SemiBold"/>
              </a:rPr>
              <a:t>Children learn the rules — but they don't change how they behave online.</a:t>
            </a:r>
            <a:endParaRPr lang="en-US" sz="4400">
              <a:solidFill>
                <a:schemeClr val="bg1"/>
              </a:solidFill>
              <a:latin typeface="Fredoka SemiBold"/>
              <a:ea typeface="Calibri"/>
              <a:cs typeface="Fredoka SemiBol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2552998"/>
            <a:ext cx="5943451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53994" y="2781598"/>
            <a:ext cx="543546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Traditional Teaching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3994" y="3463826"/>
            <a:ext cx="543546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Slides, videos &amp; lectures are the norm for digital safety education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8244" y="2552998"/>
            <a:ext cx="5943451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02237" y="2781598"/>
            <a:ext cx="543546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/>
                <a:ea typeface="Fredoka SemiBold" pitchFamily="34" charset="-122"/>
                <a:cs typeface="Fredoka SemiBold"/>
              </a:rPr>
              <a:t>Knowledge </a:t>
            </a:r>
            <a:r>
              <a:rPr lang="en-US" sz="3400" kern="0" spc="-17" dirty="0">
                <a:solidFill>
                  <a:schemeClr val="accent4"/>
                </a:solidFill>
                <a:latin typeface="Fredoka SemiBold"/>
                <a:ea typeface="Fredoka SemiBold" pitchFamily="34" charset="-122"/>
                <a:cs typeface="Fredoka SemiBold"/>
              </a:rPr>
              <a:t>≠ </a:t>
            </a:r>
            <a:r>
              <a:rPr lang="en-US" sz="3400" kern="0" spc="-17" dirty="0">
                <a:solidFill>
                  <a:srgbClr val="000000"/>
                </a:solidFill>
                <a:latin typeface="Fredoka SemiBold"/>
                <a:ea typeface="Fredoka SemiBold" pitchFamily="34" charset="-122"/>
                <a:cs typeface="Fredoka SemiBold"/>
              </a:rPr>
              <a:t>Behavior</a:t>
            </a:r>
            <a:endParaRPr lang="en-US" sz="3400" dirty="0">
              <a:latin typeface="Fredoka SemiBold"/>
              <a:cs typeface="Fredoka SemiBol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02237" y="3463826"/>
            <a:ext cx="543546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Children pass quizzes and still overshare personal info the same day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0" y="4766508"/>
            <a:ext cx="5943451" cy="20000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53994" y="5086548"/>
            <a:ext cx="543546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Proven Gap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3994" y="5768777"/>
            <a:ext cx="543546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confirms: knowing the rules does NOT mean following them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8244" y="4786828"/>
            <a:ext cx="5943451" cy="2000052"/>
          </a:xfrm>
          <a:prstGeom prst="rect">
            <a:avLst/>
          </a:prstGeom>
          <a:solidFill>
            <a:srgbClr val="F5C318"/>
          </a:solidFill>
          <a:ln/>
        </p:spPr>
      </p:sp>
      <p:sp>
        <p:nvSpPr>
          <p:cNvPr id="15" name="Text 13"/>
          <p:cNvSpPr/>
          <p:nvPr/>
        </p:nvSpPr>
        <p:spPr>
          <a:xfrm>
            <a:off x="6502237" y="5086548"/>
            <a:ext cx="543546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Missing Solution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02237" y="5768777"/>
            <a:ext cx="543546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tested gamified module exists for children's online safety behavior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556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26" dirty="0">
                <a:solidFill>
                  <a:srgbClr val="F5C318"/>
                </a:solidFill>
                <a:latin typeface="Pixelify Sans Medium" pitchFamily="34" charset="0"/>
                <a:ea typeface="Pixelify Sans Medium" pitchFamily="34" charset="-122"/>
                <a:cs typeface="Pixelify Sans Medium" pitchFamily="34" charset="-120"/>
              </a:rPr>
              <a:t>PROJECT SPECIFICATION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647700"/>
            <a:ext cx="11277318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0" spc="-22" dirty="0">
                <a:solidFill>
                  <a:srgbClr val="FFFFFF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This Project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2041763"/>
            <a:ext cx="7538591" cy="487719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" y="2345273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476" y="2410063"/>
            <a:ext cx="627116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WHO:</a:t>
            </a: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Children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2" y="2895540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2476" y="2960330"/>
            <a:ext cx="627116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WHAT:</a:t>
            </a: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Gamified cyber-awareness module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92" y="3445808"/>
            <a:ext cx="431789" cy="431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476" y="3510598"/>
            <a:ext cx="627116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FOCUS:</a:t>
            </a: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Oversharing awareness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792" y="3996075"/>
            <a:ext cx="431789" cy="4318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2476" y="4060865"/>
            <a:ext cx="6271163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PLATFORM:</a:t>
            </a: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No-code (Genially / H5P) (Genially — free tool to build interactive games &amp; quizzes, no coding needed, shared via link, H5P — academic tool with branching scenarios: child picks an action, gets instant feedback).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792" y="5453003"/>
            <a:ext cx="431789" cy="4318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2476" y="5517793"/>
            <a:ext cx="627116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</a:pPr>
            <a:r>
              <a:rPr lang="en-US" sz="17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</a:rPr>
              <a:t>MEASURE:</a:t>
            </a:r>
            <a:r>
              <a:rPr lang="en-US" sz="1700" dirty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 Pre-test / Post-test </a:t>
            </a:r>
            <a:endParaRPr lang="en-US" sz="1700" dirty="0">
              <a:ea typeface="+mn-lt"/>
              <a:cs typeface="+mn-lt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7833124" y="2041763"/>
            <a:ext cx="4368731" cy="4795917"/>
          </a:xfrm>
          <a:prstGeom prst="rect">
            <a:avLst/>
          </a:prstGeom>
          <a:solidFill>
            <a:srgbClr val="F5C318"/>
          </a:solidFill>
          <a:ln/>
        </p:spPr>
      </p:sp>
      <p:sp>
        <p:nvSpPr>
          <p:cNvPr id="16" name="Text 9"/>
          <p:cNvSpPr/>
          <p:nvPr/>
        </p:nvSpPr>
        <p:spPr>
          <a:xfrm>
            <a:off x="8112517" y="2346563"/>
            <a:ext cx="407917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26" dirty="0">
                <a:solidFill>
                  <a:srgbClr val="000000"/>
                </a:solidFill>
                <a:latin typeface="Pixelify Sans Medium" pitchFamily="34" charset="0"/>
                <a:ea typeface="Pixelify Sans Medium" pitchFamily="34" charset="-122"/>
                <a:cs typeface="Pixelify Sans Medium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8112517" y="2638663"/>
            <a:ext cx="3799785" cy="326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To what extent does a gamified cyber-awareness module produce a measurable change in children's online safety behavior?</a:t>
            </a:r>
            <a:endParaRPr lang="en-US" sz="3400" dirty="0"/>
          </a:p>
        </p:txBody>
      </p:sp>
      <p:sp>
        <p:nvSpPr>
          <p:cNvPr id="18" name="Shape 11"/>
          <p:cNvSpPr/>
          <p:nvPr/>
        </p:nvSpPr>
        <p:spPr>
          <a:xfrm>
            <a:off x="304792" y="2839680"/>
            <a:ext cx="6918846" cy="12700"/>
          </a:xfrm>
          <a:prstGeom prst="rect">
            <a:avLst/>
          </a:prstGeom>
          <a:solidFill>
            <a:srgbClr val="6E86B8"/>
          </a:solidFill>
          <a:ln/>
        </p:spPr>
      </p:sp>
      <p:sp>
        <p:nvSpPr>
          <p:cNvPr id="19" name="Shape 12"/>
          <p:cNvSpPr/>
          <p:nvPr/>
        </p:nvSpPr>
        <p:spPr>
          <a:xfrm>
            <a:off x="304792" y="3389948"/>
            <a:ext cx="6918846" cy="12700"/>
          </a:xfrm>
          <a:prstGeom prst="rect">
            <a:avLst/>
          </a:prstGeom>
          <a:solidFill>
            <a:srgbClr val="6E86B8"/>
          </a:solidFill>
          <a:ln/>
        </p:spPr>
      </p:sp>
      <p:sp>
        <p:nvSpPr>
          <p:cNvPr id="20" name="Shape 13"/>
          <p:cNvSpPr/>
          <p:nvPr/>
        </p:nvSpPr>
        <p:spPr>
          <a:xfrm>
            <a:off x="304792" y="3940215"/>
            <a:ext cx="6918846" cy="12700"/>
          </a:xfrm>
          <a:prstGeom prst="rect">
            <a:avLst/>
          </a:prstGeom>
          <a:solidFill>
            <a:srgbClr val="6E86B8"/>
          </a:solidFill>
          <a:ln/>
        </p:spPr>
      </p:sp>
      <p:sp>
        <p:nvSpPr>
          <p:cNvPr id="21" name="Shape 14"/>
          <p:cNvSpPr/>
          <p:nvPr/>
        </p:nvSpPr>
        <p:spPr>
          <a:xfrm>
            <a:off x="304792" y="5397143"/>
            <a:ext cx="6918846" cy="12700"/>
          </a:xfrm>
          <a:prstGeom prst="rect">
            <a:avLst/>
          </a:prstGeom>
          <a:solidFill>
            <a:srgbClr val="6E86B8"/>
          </a:solidFill>
          <a:ln/>
        </p:spPr>
      </p:sp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7224E02E-4B3A-D912-F6CD-279586B9E3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791" y="6062602"/>
            <a:ext cx="431789" cy="431800"/>
          </a:xfrm>
          <a:prstGeom prst="rect">
            <a:avLst/>
          </a:prstGeom>
        </p:spPr>
      </p:pic>
      <p:sp>
        <p:nvSpPr>
          <p:cNvPr id="23" name="Shape 14">
            <a:extLst>
              <a:ext uri="{FF2B5EF4-FFF2-40B4-BE49-F238E27FC236}">
                <a16:creationId xmlns:a16="http://schemas.microsoft.com/office/drawing/2014/main" id="{D3BBE5FA-19C7-E883-3BD2-6DECC8EAF1A7}"/>
              </a:ext>
            </a:extLst>
          </p:cNvPr>
          <p:cNvSpPr/>
          <p:nvPr/>
        </p:nvSpPr>
        <p:spPr>
          <a:xfrm>
            <a:off x="355591" y="5986422"/>
            <a:ext cx="6918846" cy="12700"/>
          </a:xfrm>
          <a:prstGeom prst="rect">
            <a:avLst/>
          </a:prstGeom>
          <a:solidFill>
            <a:srgbClr val="6E86B8"/>
          </a:solidFill>
          <a:ln/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94D785AA-CD9A-9A58-CC42-D56C00CE01AB}"/>
              </a:ext>
            </a:extLst>
          </p:cNvPr>
          <p:cNvSpPr/>
          <p:nvPr/>
        </p:nvSpPr>
        <p:spPr>
          <a:xfrm>
            <a:off x="952476" y="5985152"/>
            <a:ext cx="6586123" cy="871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</a:pPr>
            <a:r>
              <a:rPr lang="en-US" sz="17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</a:rPr>
              <a:t>Analysis:</a:t>
            </a:r>
            <a:r>
              <a:rPr lang="en-US" sz="1700" dirty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 Paired T-Test (Excel), by using T-Test we compare</a:t>
            </a:r>
          </a:p>
          <a:p>
            <a:pPr>
              <a:lnSpc>
                <a:spcPct val="117000"/>
              </a:lnSpc>
            </a:pPr>
            <a:r>
              <a:rPr lang="en-US" sz="1700" dirty="0">
                <a:latin typeface="Noto Sans"/>
                <a:ea typeface="Noto Sans"/>
                <a:cs typeface="Noto Sans"/>
              </a:rPr>
              <a:t>Each persons/</a:t>
            </a:r>
            <a:r>
              <a:rPr lang="en-US" sz="1700" dirty="0" err="1">
                <a:latin typeface="Noto Sans"/>
                <a:ea typeface="Noto Sans"/>
                <a:cs typeface="Noto Sans"/>
              </a:rPr>
              <a:t>childs</a:t>
            </a:r>
            <a:r>
              <a:rPr lang="en-US" sz="1700" dirty="0">
                <a:latin typeface="Noto Sans"/>
                <a:ea typeface="Noto Sans"/>
                <a:cs typeface="Noto Sans"/>
              </a:rPr>
              <a:t> score before vs after to see if the change is</a:t>
            </a:r>
          </a:p>
          <a:p>
            <a:pPr>
              <a:lnSpc>
                <a:spcPct val="117000"/>
              </a:lnSpc>
            </a:pPr>
            <a:r>
              <a:rPr lang="en-US" sz="1700" dirty="0">
                <a:latin typeface="Noto Sans"/>
                <a:ea typeface="Noto Sans"/>
                <a:cs typeface="Noto Sans"/>
              </a:rPr>
              <a:t>Actually real/significant or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302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26" dirty="0">
                <a:solidFill>
                  <a:srgbClr val="F5C318"/>
                </a:solidFill>
                <a:latin typeface="Pixelify Sans Medium" pitchFamily="34" charset="0"/>
                <a:ea typeface="Pixelify Sans Medium" pitchFamily="34" charset="-122"/>
                <a:cs typeface="Pixelify Sans Medium" pitchFamily="34" charset="-120"/>
              </a:rPr>
              <a:t>EVIDENCE LEDGER / 05 PAPERS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622300"/>
            <a:ext cx="11277318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0" spc="-22" dirty="0">
                <a:solidFill>
                  <a:srgbClr val="FFFFFF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What the Literature Shows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2078633"/>
            <a:ext cx="12191695" cy="4779367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594" y="2256433"/>
          <a:ext cx="11734506" cy="4423659"/>
        </p:xfrm>
        <a:graphic>
          <a:graphicData uri="http://schemas.openxmlformats.org/drawingml/2006/table">
            <a:tbl>
              <a:tblPr/>
              <a:tblGrid>
                <a:gridCol w="2346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7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Source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Finding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Quayyum et al. (2021)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Systematic review of 56 studies → most focus on knowledge, not behavior change. Directly establishes the gap this project fills.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Katsantonis et al. (2020)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Gamified e-safety program for children, pre/post design → significant improvement in safe behavior. Closest methodology to this project.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Videnovik et al. (2024)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Peer-learning + game-based cybersecurity in 5 primary schools (339 students) → long-lasting knowledge gains.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Kim &amp; Castelli (2021)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Meta-analysis: gamified reward systems (badges, points, leaderboards) consistently improve behavioral outcomes in education.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Akhter et al. (2020)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Survey on cybersecurity threats to children → both children and parents lack basic understanding of online safety behaviors.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8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556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26" dirty="0">
                <a:solidFill>
                  <a:srgbClr val="F5C318"/>
                </a:solidFill>
                <a:latin typeface="Pixelify Sans Medium" pitchFamily="34" charset="0"/>
                <a:ea typeface="Pixelify Sans Medium" pitchFamily="34" charset="-122"/>
                <a:cs typeface="Pixelify Sans Medium" pitchFamily="34" charset="-120"/>
              </a:rPr>
              <a:t>RELATED WORK / APPROACHES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647700"/>
            <a:ext cx="11277318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0" spc="-22" dirty="0">
                <a:solidFill>
                  <a:srgbClr val="FFFFFF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Existing Approaches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189" y="1467048"/>
            <a:ext cx="3555911" cy="50099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721048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783" y="2279848"/>
            <a:ext cx="3098722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CyberKids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783" y="2962077"/>
            <a:ext cx="3098722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Pérez et al., 2020: Video game to raise cybersecurity awareness in children. Shows game-based format is feasible and engaging for the target age group.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17892" y="1467048"/>
            <a:ext cx="3555911" cy="50099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486" y="1721048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46486" y="2279848"/>
            <a:ext cx="3098722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Cyber-Hero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4546486" y="2962077"/>
            <a:ext cx="3098722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Qusa &amp; Tarazi, 2021: Gamification framework: points, levels, challenges for cybersecurity awareness. Provides the design blueprint for this project's module.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178595" y="1467048"/>
            <a:ext cx="3555911" cy="5009952"/>
          </a:xfrm>
          <a:prstGeom prst="rect">
            <a:avLst/>
          </a:prstGeom>
          <a:solidFill>
            <a:srgbClr val="F5C31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190" y="1721048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07190" y="2279848"/>
            <a:ext cx="3098722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Katsantonis et al.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8407190" y="3428405"/>
            <a:ext cx="3098722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2020: Interactive e-safety platform for children with pre/post design. Informs the scenario-based measurement instrument for this project.</a:t>
            </a:r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649DFB-73C9-B3BA-93ED-60BB431CAA6E}"/>
              </a:ext>
            </a:extLst>
          </p:cNvPr>
          <p:cNvSpPr/>
          <p:nvPr/>
        </p:nvSpPr>
        <p:spPr>
          <a:xfrm>
            <a:off x="-2567" y="6574119"/>
            <a:ext cx="12177459" cy="2796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302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26" dirty="0">
                <a:solidFill>
                  <a:srgbClr val="F5C318"/>
                </a:solidFill>
                <a:latin typeface="Pixelify Sans Medium" pitchFamily="34" charset="0"/>
                <a:ea typeface="Pixelify Sans Medium" pitchFamily="34" charset="-122"/>
                <a:cs typeface="Pixelify Sans Medium" pitchFamily="34" charset="-120"/>
              </a:rPr>
              <a:t>POSITIONING THE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622300"/>
            <a:ext cx="11277318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0" spc="-22" dirty="0">
                <a:solidFill>
                  <a:srgbClr val="FFFFFF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How This Project Builds On &amp; Differs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2169239"/>
            <a:ext cx="5943451" cy="46176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79393" y="2397839"/>
            <a:ext cx="5384665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BUILDS 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9393" y="3134043"/>
            <a:ext cx="1776765" cy="38100"/>
          </a:xfrm>
          <a:prstGeom prst="roundRect">
            <a:avLst>
              <a:gd name="adj" fmla="val 49999"/>
            </a:avLst>
          </a:prstGeom>
          <a:solidFill>
            <a:srgbClr val="0A4BD6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3419793"/>
            <a:ext cx="5384665" cy="257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Game-based format proven effective with children — CyberKids, Katsantonis et al.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Gamification design elements: points, levels, instant feedback — Cyber-Hero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Pre/post scenario-based measurement for children — Katsantonis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Gamification improves behavioral outcomes in education — Kim &amp; Castelli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8244" y="2159079"/>
            <a:ext cx="5943451" cy="4627801"/>
          </a:xfrm>
          <a:prstGeom prst="rect">
            <a:avLst/>
          </a:prstGeom>
          <a:solidFill>
            <a:srgbClr val="F5C318"/>
          </a:solidFill>
          <a:ln/>
        </p:spPr>
      </p:sp>
      <p:sp>
        <p:nvSpPr>
          <p:cNvPr id="9" name="Text 7"/>
          <p:cNvSpPr/>
          <p:nvPr/>
        </p:nvSpPr>
        <p:spPr>
          <a:xfrm>
            <a:off x="6527637" y="2387679"/>
            <a:ext cx="5384665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DIFFERS / ADDS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527637" y="3123883"/>
            <a:ext cx="1776765" cy="38100"/>
          </a:xfrm>
          <a:prstGeom prst="roundRect">
            <a:avLst>
              <a:gd name="adj" fmla="val 49999"/>
            </a:avLst>
          </a:prstGeom>
          <a:solidFill>
            <a:srgbClr val="10204F"/>
          </a:solidFill>
          <a:ln/>
        </p:spPr>
      </p:sp>
      <p:sp>
        <p:nvSpPr>
          <p:cNvPr id="11" name="Text 9"/>
          <p:cNvSpPr/>
          <p:nvPr/>
        </p:nvSpPr>
        <p:spPr>
          <a:xfrm>
            <a:off x="6527637" y="3409633"/>
            <a:ext cx="5384665" cy="257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Focuses on oversharing awareness — underexplored in existing work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to combine gamified intervention AND behavioral measurement in one study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Targets children in an Egyptian context — GIU Play, Learn &amp; Protect theme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No-code platform — reproducible without technical resources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709" y="5334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00" kern="0" spc="26" dirty="0">
                <a:solidFill>
                  <a:srgbClr val="F5C318"/>
                </a:solidFill>
                <a:latin typeface="Pixelify Sans Medium"/>
              </a:rPr>
              <a:t> TAKEAWAYS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2709" y="825500"/>
            <a:ext cx="11277318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0" spc="-22" dirty="0">
                <a:solidFill>
                  <a:srgbClr val="FFFFFF"/>
                </a:solidFill>
                <a:latin typeface="Fredoka SemiBold"/>
                <a:ea typeface="Fredoka SemiBold" pitchFamily="34" charset="-122"/>
                <a:cs typeface="Fredoka SemiBold"/>
              </a:rPr>
              <a:t>Summary</a:t>
            </a:r>
            <a:endParaRPr lang="en-US" sz="4400">
              <a:solidFill>
                <a:srgbClr val="FFFFFF"/>
              </a:solidFill>
              <a:latin typeface="Fredoka SemiBold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2042061"/>
            <a:ext cx="5943451" cy="20829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53994" y="2270661"/>
            <a:ext cx="543546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53994" y="2952889"/>
            <a:ext cx="543546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Existing digital safety education does not change children's actual online behavior.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48244" y="2042061"/>
            <a:ext cx="5943451" cy="2082998"/>
          </a:xfrm>
          <a:prstGeom prst="rect">
            <a:avLst/>
          </a:prstGeom>
          <a:solidFill>
            <a:srgbClr val="F5C318"/>
          </a:solidFill>
          <a:ln/>
        </p:spPr>
      </p:sp>
      <p:sp>
        <p:nvSpPr>
          <p:cNvPr id="8" name="Text 6"/>
          <p:cNvSpPr/>
          <p:nvPr/>
        </p:nvSpPr>
        <p:spPr>
          <a:xfrm>
            <a:off x="6502237" y="2270661"/>
            <a:ext cx="543546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THIS PROJECT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02237" y="2952889"/>
            <a:ext cx="543546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Short gamified module on oversharing awareness, measured with a pre/post test design.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0" y="4561840"/>
            <a:ext cx="5943451" cy="2225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53994" y="5003800"/>
            <a:ext cx="543546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LITERATURE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3994" y="5686028"/>
            <a:ext cx="543546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verified papers show game-based learning works — but none combined gamification + behavioral measurement + this audience.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4561840"/>
            <a:ext cx="5943451" cy="2225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02237" y="5003800"/>
            <a:ext cx="543546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17" dirty="0">
                <a:solidFill>
                  <a:srgbClr val="000000"/>
                </a:solidFill>
                <a:latin typeface="Fredoka SemiBold" pitchFamily="34" charset="0"/>
                <a:ea typeface="Fredoka SemiBold" pitchFamily="34" charset="-122"/>
                <a:cs typeface="Fredoka SemiBold" pitchFamily="34" charset="-120"/>
              </a:rPr>
              <a:t>CONTRIBUTION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02237" y="5686028"/>
            <a:ext cx="543546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study in this research group to measure behavioral transfer from a gamified cybersecurity module in children.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114</cp:revision>
  <dcterms:created xsi:type="dcterms:W3CDTF">2026-09-26T14:47:52Z</dcterms:created>
  <dcterms:modified xsi:type="dcterms:W3CDTF">2026-09-26T15:29:03Z</dcterms:modified>
</cp:coreProperties>
</file>